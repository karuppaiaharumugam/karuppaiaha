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74" r:id="rId13"/>
    <p:sldId id="275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4630400" cy="8229600"/>
  <p:notesSz cx="8229600" cy="14630400"/>
  <p:embeddedFontLst>
    <p:embeddedFont>
      <p:font typeface="Arimo" panose="020B0604020202020204" charset="0"/>
      <p:regular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1E42"/>
    <a:srgbClr val="BAB106"/>
    <a:srgbClr val="42AFE0"/>
    <a:srgbClr val="269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6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328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216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302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936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782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197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32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046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02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361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09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53797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709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804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791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1434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247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170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8319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175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6785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337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1481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20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0119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71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72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36257F2-30A9-A4FC-4AC8-B9E50938C3A8}"/>
              </a:ext>
            </a:extLst>
          </p:cNvPr>
          <p:cNvSpPr/>
          <p:nvPr/>
        </p:nvSpPr>
        <p:spPr>
          <a:xfrm>
            <a:off x="-257908" y="175845"/>
            <a:ext cx="15005539" cy="43609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ctr">
              <a:buNone/>
            </a:pPr>
            <a:endParaRPr lang="en-US" sz="7200" b="1" dirty="0">
              <a:ln/>
              <a:solidFill>
                <a:schemeClr val="tx1">
                  <a:lumMod val="95000"/>
                </a:schemeClr>
              </a:solidFill>
              <a:latin typeface="+mj-lt"/>
              <a:ea typeface="Syne Bold" pitchFamily="34" charset="-122"/>
              <a:cs typeface="Syne Bold" pitchFamily="34" charset="-120"/>
            </a:endParaRPr>
          </a:p>
          <a:p>
            <a:pPr marL="0" indent="0" algn="ctr">
              <a:buNone/>
            </a:pPr>
            <a:r>
              <a:rPr lang="en-US" sz="7200" b="1" dirty="0">
                <a:ln/>
                <a:solidFill>
                  <a:schemeClr val="tx1">
                    <a:lumMod val="95000"/>
                  </a:schemeClr>
                </a:solidFill>
                <a:latin typeface="+mj-lt"/>
                <a:ea typeface="Syne Bold" pitchFamily="34" charset="-122"/>
                <a:cs typeface="Syne Bold" pitchFamily="34" charset="-120"/>
              </a:rPr>
              <a:t>EFFICIENT MACHINE LEARNING ALGORITHM FOR FUTURE PRICE PREDICTION</a:t>
            </a:r>
            <a:endParaRPr lang="en-US" sz="7200" b="1" dirty="0">
              <a:ln/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5C27F4-7962-396D-CC4E-5C1FF8CA74D0}"/>
              </a:ext>
            </a:extLst>
          </p:cNvPr>
          <p:cNvSpPr txBox="1"/>
          <p:nvPr/>
        </p:nvSpPr>
        <p:spPr>
          <a:xfrm>
            <a:off x="365760" y="6114763"/>
            <a:ext cx="70690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 by</a:t>
            </a:r>
          </a:p>
          <a:p>
            <a:r>
              <a:rPr lang="en-US" sz="2400" b="1" dirty="0"/>
              <a:t>N Aameer Mohamed (910322104001)</a:t>
            </a:r>
          </a:p>
          <a:p>
            <a:r>
              <a:rPr lang="en-US" sz="2400" b="1" dirty="0"/>
              <a:t>M Ajith (910322104004)</a:t>
            </a:r>
          </a:p>
          <a:p>
            <a:r>
              <a:rPr lang="en-US" sz="2400" b="1" dirty="0"/>
              <a:t>A </a:t>
            </a:r>
            <a:r>
              <a:rPr lang="en-US" sz="2400" b="1" dirty="0" err="1"/>
              <a:t>Karuppaiah</a:t>
            </a:r>
            <a:r>
              <a:rPr lang="en-US" sz="2400" b="1" dirty="0"/>
              <a:t> (910322104024)</a:t>
            </a:r>
          </a:p>
          <a:p>
            <a:r>
              <a:rPr lang="en-IN" sz="2400" b="1" dirty="0"/>
              <a:t>M Suthakar (910322104056)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1632327-0E0D-B52F-B4D1-C8C0F95F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338" y="668215"/>
            <a:ext cx="7631723" cy="907366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pPr algn="ctr"/>
            <a:r>
              <a:rPr lang="en-US" sz="5400" b="1" dirty="0">
                <a:gradFill>
                  <a:gsLst>
                    <a:gs pos="11000">
                      <a:schemeClr val="bg2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ABSTRACT</a:t>
            </a:r>
            <a:endParaRPr lang="en-IN" sz="5400" b="1" dirty="0">
              <a:gradFill>
                <a:gsLst>
                  <a:gs pos="11000">
                    <a:schemeClr val="bg2">
                      <a:lumMod val="60000"/>
                      <a:lumOff val="40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3993A-8DBF-9DE6-131E-1845706C02D3}"/>
              </a:ext>
            </a:extLst>
          </p:cNvPr>
          <p:cNvSpPr txBox="1"/>
          <p:nvPr/>
        </p:nvSpPr>
        <p:spPr>
          <a:xfrm>
            <a:off x="738554" y="2297723"/>
            <a:ext cx="11218984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Gold Is A Core Safe-haven Asset. This Study Presents An Efficient Machine Learning Pipeline To Forecast Future Gold Prices In India.</a:t>
            </a:r>
            <a:endParaRPr lang="en-I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We Compare Classic Regression Methods With Tree-based Models And LSTM To Capture Both Short-term Dynamics And Long-range Temporal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Key Steps: Data Collection, Cleaning, Feature Selection, Model Training, And Evaluation.</a:t>
            </a:r>
            <a:endParaRPr lang="en-US" sz="24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D14039-3738-8F71-1325-D2F65BDBC583}"/>
              </a:ext>
            </a:extLst>
          </p:cNvPr>
          <p:cNvSpPr txBox="1"/>
          <p:nvPr/>
        </p:nvSpPr>
        <p:spPr>
          <a:xfrm>
            <a:off x="5838093" y="610979"/>
            <a:ext cx="359638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+mj-lt"/>
              </a:rPr>
              <a:t>OVERVIEW</a:t>
            </a:r>
            <a:endParaRPr lang="en-IN" sz="48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291CB-4C6E-B96B-0295-D880B4FAEA71}"/>
              </a:ext>
            </a:extLst>
          </p:cNvPr>
          <p:cNvSpPr txBox="1"/>
          <p:nvPr/>
        </p:nvSpPr>
        <p:spPr>
          <a:xfrm>
            <a:off x="527538" y="2016369"/>
            <a:ext cx="11594124" cy="582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Develop an efficient ML model to accurately predict future gold prices in India</a:t>
            </a:r>
            <a:endParaRPr lang="en-IN" sz="28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Analyze historical data and identify principal drivers: currency, inflation, global trends</a:t>
            </a:r>
            <a:endParaRPr lang="en-US" sz="2800" b="1" dirty="0">
              <a:solidFill>
                <a:schemeClr val="tx1">
                  <a:lumMod val="75000"/>
                </a:schemeClr>
              </a:solidFill>
              <a:ea typeface="Arimo" pitchFamily="34" charset="-122"/>
              <a:cs typeface="Arimo" pitchFamily="34" charset="-120"/>
            </a:endParaRPr>
          </a:p>
          <a:p>
            <a:pPr marL="457200" indent="-4572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ea typeface="Arimo" pitchFamily="34" charset="-122"/>
                <a:cs typeface="Arimo" pitchFamily="34" charset="-120"/>
              </a:rPr>
              <a:t>Implement and compare algorithms (Regression, Random Forest, Gradient Boosting, LSTM)</a:t>
            </a:r>
            <a:endParaRPr lang="en-US" sz="2800" b="1" dirty="0"/>
          </a:p>
          <a:p>
            <a:pPr marL="457200" indent="-4572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ea typeface="Arimo" pitchFamily="34" charset="-122"/>
                <a:cs typeface="Arimo" pitchFamily="34" charset="-120"/>
              </a:rPr>
              <a:t>Deliver a robust, adaptive forecasting system for investors and policymakers</a:t>
            </a:r>
            <a:endParaRPr lang="en-US" sz="2800" b="1" dirty="0"/>
          </a:p>
          <a:p>
            <a:pPr algn="just">
              <a:lnSpc>
                <a:spcPct val="150000"/>
              </a:lnSpc>
            </a:pPr>
            <a:endParaRPr lang="en-IN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5F4FDC0-142A-63D8-3005-91400418C624}"/>
              </a:ext>
            </a:extLst>
          </p:cNvPr>
          <p:cNvGrpSpPr/>
          <p:nvPr/>
        </p:nvGrpSpPr>
        <p:grpSpPr>
          <a:xfrm>
            <a:off x="826426" y="1504710"/>
            <a:ext cx="12977547" cy="6450595"/>
            <a:chOff x="826426" y="1504710"/>
            <a:chExt cx="12977547" cy="6450595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426" y="1952021"/>
              <a:ext cx="12977547" cy="560554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</p:pic>
        <p:sp>
          <p:nvSpPr>
            <p:cNvPr id="4" name="Text 1"/>
            <p:cNvSpPr/>
            <p:nvPr/>
          </p:nvSpPr>
          <p:spPr>
            <a:xfrm>
              <a:off x="4033805" y="6650863"/>
              <a:ext cx="1913756" cy="655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Syne Bold" pitchFamily="34" charset="-122"/>
                  <a:cs typeface="Syne Bold" pitchFamily="34" charset="-120"/>
                </a:rPr>
                <a:t>Preprocessing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4033805" y="7416862"/>
              <a:ext cx="1913756" cy="509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Arimo" pitchFamily="34" charset="-122"/>
                  <a:cs typeface="Arimo" pitchFamily="34" charset="-120"/>
                </a:rPr>
                <a:t>Clean and normalize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8918888" y="6679642"/>
              <a:ext cx="1913757" cy="655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Syne Bold" pitchFamily="34" charset="-122"/>
                  <a:cs typeface="Syne Bold" pitchFamily="34" charset="-120"/>
                </a:rPr>
                <a:t>Model Training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8525666" y="7445641"/>
              <a:ext cx="2523637" cy="509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Arimo" pitchFamily="34" charset="-122"/>
                  <a:cs typeface="Arimo" pitchFamily="34" charset="-120"/>
                </a:rPr>
                <a:t>Train candidate models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465657" y="1504710"/>
              <a:ext cx="1913756" cy="655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Syne Bold" pitchFamily="34" charset="-122"/>
                  <a:cs typeface="Syne Bold" pitchFamily="34" charset="-120"/>
                </a:rPr>
                <a:t>Data Collection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1465657" y="2334565"/>
              <a:ext cx="1913756" cy="509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Arimo" pitchFamily="34" charset="-122"/>
                  <a:cs typeface="Arimo" pitchFamily="34" charset="-120"/>
                </a:rPr>
                <a:t>Acquire reliable data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11354243" y="1731361"/>
              <a:ext cx="1913756" cy="3278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Syne Bold" pitchFamily="34" charset="-122"/>
                  <a:cs typeface="Syne Bold" pitchFamily="34" charset="-120"/>
                </a:rPr>
                <a:t>Evaluation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11342522" y="2361096"/>
              <a:ext cx="1913756" cy="509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Arimo" pitchFamily="34" charset="-122"/>
                  <a:cs typeface="Arimo" pitchFamily="34" charset="-120"/>
                </a:rPr>
                <a:t>Validate with holdout tests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6445576" y="1554282"/>
              <a:ext cx="1913757" cy="655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Syne Bold" pitchFamily="34" charset="-122"/>
                  <a:cs typeface="Syne Bold" pitchFamily="34" charset="-120"/>
                </a:rPr>
                <a:t>Feature Selection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6445576" y="2387030"/>
              <a:ext cx="1913757" cy="509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95000"/>
                    </a:schemeClr>
                  </a:solidFill>
                  <a:ea typeface="Arimo" pitchFamily="34" charset="-122"/>
                  <a:cs typeface="Arimo" pitchFamily="34" charset="-120"/>
                </a:rPr>
                <a:t>Choose relevant features</a:t>
              </a:r>
              <a:endParaRPr lang="en-US" sz="2000" b="1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6E026BB-BA15-8AFE-1614-C9E6822B82AA}"/>
              </a:ext>
            </a:extLst>
          </p:cNvPr>
          <p:cNvSpPr txBox="1"/>
          <p:nvPr/>
        </p:nvSpPr>
        <p:spPr>
          <a:xfrm>
            <a:off x="3724639" y="352631"/>
            <a:ext cx="881905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 dirty="0"/>
              <a:t>MODULE DESCRIPTION</a:t>
            </a:r>
            <a:endParaRPr lang="en-IN" sz="5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6709F3-8A12-5909-BD59-9124D36CE6A1}"/>
              </a:ext>
            </a:extLst>
          </p:cNvPr>
          <p:cNvSpPr/>
          <p:nvPr/>
        </p:nvSpPr>
        <p:spPr>
          <a:xfrm>
            <a:off x="2696309" y="575001"/>
            <a:ext cx="8318000" cy="65049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2394199" y="1011035"/>
            <a:ext cx="658298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EXISTING SYSTEM — LIMITATIONS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749CE-63D0-C17D-621D-62001A03033F}"/>
              </a:ext>
            </a:extLst>
          </p:cNvPr>
          <p:cNvSpPr txBox="1"/>
          <p:nvPr/>
        </p:nvSpPr>
        <p:spPr>
          <a:xfrm>
            <a:off x="586154" y="2649416"/>
            <a:ext cx="12168554" cy="5006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ea typeface="Arimo" pitchFamily="34" charset="-122"/>
                <a:cs typeface="Arimo" pitchFamily="34" charset="-120"/>
              </a:rPr>
              <a:t>Poor Adaptability To Sudden Economic Shocks And Multi-factor Influences</a:t>
            </a:r>
            <a:endParaRPr lang="en-US" sz="2400" b="1" dirty="0">
              <a:solidFill>
                <a:schemeClr val="tx1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ea typeface="Arimo" pitchFamily="34" charset="-122"/>
                <a:cs typeface="Arimo" pitchFamily="34" charset="-120"/>
              </a:rPr>
              <a:t>Limited Real-time Performance And Lower Accuracy For Short-term Forecasting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ea typeface="Arimo" pitchFamily="34" charset="-122"/>
                <a:cs typeface="Arimo" pitchFamily="34" charset="-120"/>
              </a:rPr>
              <a:t>Poor Adaptability To Sudden Economic Shocks And Multi-factor Influences</a:t>
            </a:r>
            <a:endParaRPr lang="en-US" sz="2400" b="1" dirty="0">
              <a:solidFill>
                <a:schemeClr val="tx1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ea typeface="Arimo" pitchFamily="34" charset="-122"/>
                <a:cs typeface="Arimo" pitchFamily="34" charset="-120"/>
              </a:rPr>
              <a:t>Limited Real-time Performance And Lower Accuracy For Short-term Forecasting</a:t>
            </a:r>
            <a:endParaRPr lang="en-US" sz="2400" b="1" dirty="0">
              <a:solidFill>
                <a:schemeClr val="tx1">
                  <a:lumMod val="7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endParaRPr lang="en-IN" sz="2400" b="1" dirty="0"/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endParaRPr lang="en-US" sz="2400" b="1" dirty="0">
              <a:solidFill>
                <a:schemeClr val="tx1">
                  <a:lumMod val="7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05908" y="429615"/>
            <a:ext cx="8092743" cy="56328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PROPOSED SYSTEM — OVERVIEW</a:t>
            </a:r>
            <a:endParaRPr lang="en-US" sz="35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41609-F999-725B-D4C2-C45DFBB853A2}"/>
              </a:ext>
            </a:extLst>
          </p:cNvPr>
          <p:cNvSpPr txBox="1"/>
          <p:nvPr/>
        </p:nvSpPr>
        <p:spPr>
          <a:xfrm>
            <a:off x="1617785" y="2221974"/>
            <a:ext cx="1175824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Arimo" pitchFamily="34" charset="-122"/>
                <a:cs typeface="Arimo" pitchFamily="34" charset="-120"/>
              </a:rPr>
              <a:t>We propose an ML-driven framework combining feature-rich inputs with advanced models: Random Forest, Gradient Boosting (</a:t>
            </a:r>
            <a:r>
              <a:rPr lang="en-US" sz="2400" b="1" dirty="0" err="1">
                <a:ea typeface="Arimo" pitchFamily="34" charset="-122"/>
                <a:cs typeface="Arimo" pitchFamily="34" charset="-120"/>
              </a:rPr>
              <a:t>XGBoost</a:t>
            </a:r>
            <a:r>
              <a:rPr lang="en-US" sz="2400" b="1" dirty="0">
                <a:ea typeface="Arimo" pitchFamily="34" charset="-122"/>
                <a:cs typeface="Arimo" pitchFamily="34" charset="-120"/>
              </a:rPr>
              <a:t>/</a:t>
            </a:r>
            <a:r>
              <a:rPr lang="en-US" sz="2400" b="1" dirty="0" err="1">
                <a:ea typeface="Arimo" pitchFamily="34" charset="-122"/>
                <a:cs typeface="Arimo" pitchFamily="34" charset="-120"/>
              </a:rPr>
              <a:t>LightGBM</a:t>
            </a:r>
            <a:r>
              <a:rPr lang="en-US" sz="2400" b="1" dirty="0">
                <a:ea typeface="Arimo" pitchFamily="34" charset="-122"/>
                <a:cs typeface="Arimo" pitchFamily="34" charset="-120"/>
              </a:rPr>
              <a:t>), and LSTM.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Arimo" pitchFamily="34" charset="-122"/>
                <a:cs typeface="Arimo" pitchFamily="34" charset="-120"/>
              </a:rPr>
              <a:t>Key enhancements: multivariate inputs (FX rates, inflation, indices), robust preprocessing, automated feature selection, and hyperparameter tuning for real-time, adaptive forecasts.</a:t>
            </a:r>
            <a:endParaRPr lang="en-US" sz="24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62240" y="646945"/>
            <a:ext cx="4505920" cy="56328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MODULE LIST</a:t>
            </a:r>
            <a:endParaRPr lang="en-US" sz="5400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7650D-03A5-A0C5-EB5C-C7D23E5B4522}"/>
              </a:ext>
            </a:extLst>
          </p:cNvPr>
          <p:cNvSpPr/>
          <p:nvPr/>
        </p:nvSpPr>
        <p:spPr>
          <a:xfrm>
            <a:off x="2039815" y="2321460"/>
            <a:ext cx="7971693" cy="3282171"/>
          </a:xfrm>
          <a:prstGeom prst="rect">
            <a:avLst/>
          </a:prstGeo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Data Collection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Data Preprocessing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Feature Selection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Model Training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Prediction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Evaluation Module</a:t>
            </a:r>
            <a:endParaRPr lang="en-IN" sz="28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Visualization Module</a:t>
            </a:r>
            <a:endParaRPr lang="en-IN" sz="2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7666" y="730739"/>
            <a:ext cx="11015067" cy="68905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MODULE 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DESCRIPTIONS</a:t>
            </a:r>
            <a:r>
              <a:rPr lang="en-US" sz="4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— DATA &amp; PREPROCESSING</a:t>
            </a:r>
            <a:endParaRPr lang="en-US" sz="4800" b="1" dirty="0"/>
          </a:p>
        </p:txBody>
      </p:sp>
      <p:sp>
        <p:nvSpPr>
          <p:cNvPr id="3" name="Shape 1"/>
          <p:cNvSpPr/>
          <p:nvPr/>
        </p:nvSpPr>
        <p:spPr>
          <a:xfrm>
            <a:off x="837724" y="3352205"/>
            <a:ext cx="6357818" cy="2567226"/>
          </a:xfrm>
          <a:prstGeom prst="roundRect">
            <a:avLst>
              <a:gd name="adj" fmla="val 1399"/>
            </a:avLst>
          </a:prstGeom>
          <a:noFill/>
          <a:ln w="30480">
            <a:noFill/>
            <a:prstDash val="soli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07519" y="2240742"/>
            <a:ext cx="2816185" cy="35194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latin typeface="+mj-lt"/>
                <a:ea typeface="Syne Bold" pitchFamily="34" charset="-122"/>
                <a:cs typeface="Syne Bold" pitchFamily="34" charset="-120"/>
              </a:rPr>
              <a:t>Data Collection</a:t>
            </a:r>
            <a:endParaRPr lang="en-US" sz="28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07519" y="2855952"/>
            <a:ext cx="5818227" cy="15320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ea typeface="Arimo" pitchFamily="34" charset="-122"/>
                <a:cs typeface="Arimo" pitchFamily="34" charset="-120"/>
              </a:rPr>
              <a:t>Aggregate historical gold prices, INR–USD exchange rates, interest rates, CPI, global indices, and commodity signals from trusted APIs and financial databases.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7704653" y="3622000"/>
            <a:ext cx="3042404" cy="35194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+mj-lt"/>
                <a:ea typeface="Syne Bold" pitchFamily="34" charset="-122"/>
                <a:cs typeface="Syne Bold" pitchFamily="34" charset="-120"/>
              </a:rPr>
              <a:t>Data Preprocessing</a:t>
            </a:r>
            <a:endParaRPr lang="en-US" sz="24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04653" y="4117538"/>
            <a:ext cx="5818227" cy="15320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Arimo" pitchFamily="34" charset="0"/>
                <a:ea typeface="Arimo" pitchFamily="34" charset="-122"/>
                <a:cs typeface="Arimo" pitchFamily="34" charset="-120"/>
              </a:rPr>
              <a:t>Handle missing values, remove outliers, apply smoothing where appropriate, engineer lagged features and rolling statistics, and normalize or scale numeric inputs for model compatibility.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03485-4695-1EEF-BB49-45595C945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06" y="1789612"/>
            <a:ext cx="4669877" cy="4154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DEDD3E-AFF5-F0ED-B080-0240A4359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522" y="1789610"/>
            <a:ext cx="4287501" cy="415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204241-C933-F04D-9AC0-0C2C443ED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7162" y="1789611"/>
            <a:ext cx="4373602" cy="41544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AD4068-B911-12F6-D3F5-9E8AFC9C1068}"/>
              </a:ext>
            </a:extLst>
          </p:cNvPr>
          <p:cNvSpPr txBox="1"/>
          <p:nvPr/>
        </p:nvSpPr>
        <p:spPr>
          <a:xfrm>
            <a:off x="2549770" y="257908"/>
            <a:ext cx="9530861" cy="1015663"/>
          </a:xfrm>
          <a:prstGeom prst="rect">
            <a:avLst/>
          </a:prstGeom>
          <a:solidFill>
            <a:srgbClr val="0070C0"/>
          </a:solidFill>
          <a:ln>
            <a:solidFill>
              <a:srgbClr val="421E4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+mj-lt"/>
                <a:ea typeface="Syne Bold" pitchFamily="34" charset="-122"/>
                <a:cs typeface="Syne Bold" pitchFamily="34" charset="-120"/>
              </a:rPr>
              <a:t>DATA COLLECTION</a:t>
            </a:r>
            <a:endParaRPr lang="en-US" sz="6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515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932DD-71A8-9222-1E14-04DE1B43A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56" y="1672046"/>
            <a:ext cx="4701467" cy="4181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D6C81B-ABC3-5D07-3D40-262DCDF4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017" y="1672046"/>
            <a:ext cx="4701467" cy="4181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F21CCA-6DF3-C8C3-1B6E-BD83D5889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370" y="1672045"/>
            <a:ext cx="4088674" cy="4181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EEFFAC-804F-3058-3FE5-7D2766152F81}"/>
              </a:ext>
            </a:extLst>
          </p:cNvPr>
          <p:cNvSpPr txBox="1"/>
          <p:nvPr/>
        </p:nvSpPr>
        <p:spPr>
          <a:xfrm>
            <a:off x="2274276" y="222739"/>
            <a:ext cx="10374923" cy="1015663"/>
          </a:xfrm>
          <a:prstGeom prst="rect">
            <a:avLst/>
          </a:prstGeom>
          <a:solidFill>
            <a:srgbClr val="0070C0"/>
          </a:solidFill>
          <a:ln>
            <a:solidFill>
              <a:srgbClr val="421E42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+mj-lt"/>
                <a:ea typeface="Syne Bold" pitchFamily="34" charset="-122"/>
                <a:cs typeface="Syne Bold" pitchFamily="34" charset="-120"/>
              </a:rPr>
              <a:t>DATA PREPROCESSING</a:t>
            </a:r>
            <a:endParaRPr lang="en-US" sz="6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041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7662" y="719695"/>
            <a:ext cx="11154984" cy="56328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FEATURE SELECTION &amp; MODEL TRAINING</a:t>
            </a:r>
            <a:endParaRPr lang="en-US" sz="48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3E1FA-87A5-5563-5963-554CAF014E49}"/>
              </a:ext>
            </a:extLst>
          </p:cNvPr>
          <p:cNvSpPr txBox="1"/>
          <p:nvPr/>
        </p:nvSpPr>
        <p:spPr>
          <a:xfrm>
            <a:off x="398585" y="2004646"/>
            <a:ext cx="1254369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Feature Selection: correlation analysis, SHAP, mutual information, recursive feature elimination</a:t>
            </a:r>
            <a:endParaRPr lang="en-IN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Models Trained: linear regression baseline, Random Forest, Gradient Boosting (</a:t>
            </a:r>
            <a:r>
              <a:rPr lang="en-US" sz="2800" b="1" dirty="0" err="1"/>
              <a:t>XGBoost</a:t>
            </a:r>
            <a:r>
              <a:rPr lang="en-US" sz="2800" b="1" dirty="0"/>
              <a:t>/</a:t>
            </a:r>
            <a:r>
              <a:rPr lang="en-US" sz="2800" b="1" dirty="0" err="1"/>
              <a:t>LightGBM</a:t>
            </a:r>
            <a:r>
              <a:rPr lang="en-US" sz="2800" b="1" dirty="0"/>
              <a:t>), and LSTM for sequence modeling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Training Strategy: time-series-aware cross-validation, walk-forward validation, and grid/Bayesian hyperparameter search</a:t>
            </a: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5B8901-6E0D-3CB7-00CC-BA5BC3B25C03}"/>
              </a:ext>
            </a:extLst>
          </p:cNvPr>
          <p:cNvSpPr txBox="1"/>
          <p:nvPr/>
        </p:nvSpPr>
        <p:spPr>
          <a:xfrm>
            <a:off x="3669498" y="182097"/>
            <a:ext cx="7315200" cy="83099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MODEL TRAINING</a:t>
            </a:r>
            <a:endParaRPr lang="en-IN" sz="4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2F770-F762-0C00-95FA-FEEE7B04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1" y="1494900"/>
            <a:ext cx="6350875" cy="5239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B1EBE-5567-F25F-4191-9DB3FE896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217" y="1494900"/>
            <a:ext cx="5695406" cy="52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25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478E78-8521-756C-A2EB-E2D6FD46D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24" y="1593668"/>
            <a:ext cx="6747859" cy="5413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0D36A-F183-6BEA-37AA-3F3624566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9" y="1593668"/>
            <a:ext cx="6747857" cy="541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6A4A9F-30A1-0BDC-24FA-4C75B3D7963C}"/>
              </a:ext>
            </a:extLst>
          </p:cNvPr>
          <p:cNvSpPr txBox="1"/>
          <p:nvPr/>
        </p:nvSpPr>
        <p:spPr>
          <a:xfrm>
            <a:off x="3669498" y="182097"/>
            <a:ext cx="7315200" cy="83099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+mj-lt"/>
                <a:ea typeface="Syne Bold" pitchFamily="34" charset="-122"/>
                <a:cs typeface="Syne Bold" pitchFamily="34" charset="-120"/>
              </a:rPr>
              <a:t>MODEL TRAINING</a:t>
            </a:r>
            <a:endParaRPr lang="en-IN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963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0615" y="1013162"/>
            <a:ext cx="11420621" cy="56328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dirty="0">
                <a:latin typeface="+mj-lt"/>
                <a:ea typeface="Syne Bold" pitchFamily="34" charset="-122"/>
                <a:cs typeface="Syne Bold" pitchFamily="34" charset="-120"/>
              </a:rPr>
              <a:t>PREDICTION, EVALUATION &amp; NEXT STEPS</a:t>
            </a:r>
            <a:endParaRPr lang="en-US" sz="35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294E0-C700-70E8-88BE-BE2088FD3C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158"/>
          <a:stretch>
            <a:fillRect/>
          </a:stretch>
        </p:blipFill>
        <p:spPr>
          <a:xfrm>
            <a:off x="648432" y="2408359"/>
            <a:ext cx="6034454" cy="1706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F85E09-023E-B1BC-4021-88888EE842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355"/>
          <a:stretch>
            <a:fillRect/>
          </a:stretch>
        </p:blipFill>
        <p:spPr>
          <a:xfrm>
            <a:off x="7648226" y="2771774"/>
            <a:ext cx="6439249" cy="4570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8A5C29-9F9F-ED5E-235B-47E199AEB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767712"/>
            <a:ext cx="6034454" cy="2981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D5E18-57A4-68A3-6977-1058DDF64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044700"/>
            <a:ext cx="13011150" cy="6083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F99BD6-CB90-6111-54BF-94F9920D4501}"/>
              </a:ext>
            </a:extLst>
          </p:cNvPr>
          <p:cNvSpPr txBox="1"/>
          <p:nvPr/>
        </p:nvSpPr>
        <p:spPr>
          <a:xfrm>
            <a:off x="3015175" y="494044"/>
            <a:ext cx="8882743" cy="65659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Syne Bold" pitchFamily="34" charset="-122"/>
              </a:rPr>
              <a:t>FINAL OUTPUT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3418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B8006-604C-3B02-131C-CF23C78A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3700"/>
            <a:ext cx="14630399" cy="647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A761A7-3A09-B3E8-83BA-3408E23A81DA}"/>
              </a:ext>
            </a:extLst>
          </p:cNvPr>
          <p:cNvSpPr txBox="1"/>
          <p:nvPr/>
        </p:nvSpPr>
        <p:spPr>
          <a:xfrm>
            <a:off x="2856077" y="339968"/>
            <a:ext cx="9757954" cy="673198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800" b="1" dirty="0">
                <a:latin typeface="+mj-lt"/>
                <a:ea typeface="Syne Bold" pitchFamily="34" charset="-122"/>
              </a:rPr>
              <a:t>LOGIN PAGE</a:t>
            </a:r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9190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2F63-0C96-8061-8FB6-17D8AD167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301D9-E931-8B2F-71EB-9FD0EE74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7805"/>
            <a:ext cx="8382000" cy="54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647E0-4C89-22A5-D0C1-9DD7EDC9C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782" y="2037805"/>
            <a:ext cx="5114618" cy="548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171D6F-35F7-13CB-E1D4-1A6E4FEEAAE1}"/>
              </a:ext>
            </a:extLst>
          </p:cNvPr>
          <p:cNvSpPr txBox="1"/>
          <p:nvPr/>
        </p:nvSpPr>
        <p:spPr>
          <a:xfrm>
            <a:off x="3759926" y="478792"/>
            <a:ext cx="7315200" cy="68326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800" b="1" dirty="0">
                <a:latin typeface="+mj-lt"/>
                <a:ea typeface="Syne Bold" pitchFamily="34" charset="-122"/>
                <a:cs typeface="Syne Bold" pitchFamily="34" charset="-120"/>
              </a:rPr>
              <a:t>PREDICTION PAGE</a:t>
            </a:r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071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70171-8520-2D64-1750-256043D3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4" y="2017486"/>
            <a:ext cx="13011150" cy="568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219EC6-831A-F72A-C472-26CA01CFB807}"/>
              </a:ext>
            </a:extLst>
          </p:cNvPr>
          <p:cNvSpPr txBox="1"/>
          <p:nvPr/>
        </p:nvSpPr>
        <p:spPr>
          <a:xfrm>
            <a:off x="2368061" y="522514"/>
            <a:ext cx="9894277" cy="67768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+mj-lt"/>
                <a:ea typeface="Syne Bold" pitchFamily="34" charset="-122"/>
              </a:rPr>
              <a:t>GOLD PREDICTION RATE</a:t>
            </a:r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6787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70667C-1EB7-E049-3D04-98A328F8AE62}"/>
              </a:ext>
            </a:extLst>
          </p:cNvPr>
          <p:cNvSpPr txBox="1"/>
          <p:nvPr/>
        </p:nvSpPr>
        <p:spPr>
          <a:xfrm>
            <a:off x="2989384" y="457201"/>
            <a:ext cx="8651631" cy="66415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b="1" dirty="0">
                <a:latin typeface="+mj-lt"/>
                <a:ea typeface="Syne Bold" pitchFamily="34" charset="-122"/>
              </a:rPr>
              <a:t>SILVER PREDICTION RATE</a:t>
            </a:r>
            <a:endParaRPr lang="en-US" sz="4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88C32-617B-9112-1FAF-8E452859D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155370"/>
            <a:ext cx="13011150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90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6A8E11-0441-CD49-2415-6C93F6164D9E}"/>
              </a:ext>
            </a:extLst>
          </p:cNvPr>
          <p:cNvSpPr txBox="1"/>
          <p:nvPr/>
        </p:nvSpPr>
        <p:spPr>
          <a:xfrm>
            <a:off x="4407877" y="3071446"/>
            <a:ext cx="8346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+mj-lt"/>
              </a:rPr>
              <a:t>THANK YOU</a:t>
            </a:r>
            <a:endParaRPr lang="en-IN" sz="7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4038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183</TotalTime>
  <Words>452</Words>
  <Application>Microsoft Office PowerPoint</Application>
  <PresentationFormat>Custom</PresentationFormat>
  <Paragraphs>74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Syne Bold</vt:lpstr>
      <vt:lpstr>Arimo</vt:lpstr>
      <vt:lpstr>Century Gothic</vt:lpstr>
      <vt:lpstr>Arial</vt:lpstr>
      <vt:lpstr>Wingdings 3</vt:lpstr>
      <vt:lpstr>Ion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aameer mohamed</dc:creator>
  <cp:lastModifiedBy>aameer mohamed</cp:lastModifiedBy>
  <cp:revision>9</cp:revision>
  <dcterms:created xsi:type="dcterms:W3CDTF">2026-03-22T11:12:20Z</dcterms:created>
  <dcterms:modified xsi:type="dcterms:W3CDTF">2026-03-23T17:09:20Z</dcterms:modified>
</cp:coreProperties>
</file>